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692" r:id="rId3"/>
  </p:sldMasterIdLst>
  <p:notesMasterIdLst>
    <p:notesMasterId r:id="rId5"/>
  </p:notesMasterIdLst>
  <p:sldIdLst>
    <p:sldId id="355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323B"/>
    <a:srgbClr val="00B09B"/>
    <a:srgbClr val="F0EEEF"/>
    <a:srgbClr val="0D95BC"/>
    <a:srgbClr val="DF361F"/>
    <a:srgbClr val="6C2B43"/>
    <a:srgbClr val="7B0051"/>
    <a:srgbClr val="063951"/>
    <a:srgbClr val="EB1E42"/>
    <a:srgbClr val="B2C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1" autoAdjust="0"/>
    <p:restoredTop sz="96433" autoAdjust="0"/>
  </p:normalViewPr>
  <p:slideViewPr>
    <p:cSldViewPr snapToGrid="0" showGuides="1">
      <p:cViewPr varScale="1">
        <p:scale>
          <a:sx n="78" d="100"/>
          <a:sy n="78" d="100"/>
        </p:scale>
        <p:origin x="1507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603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www.presentationgo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6331"/>
            <a:ext cx="851535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6331"/>
            <a:ext cx="851535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5"/>
            <a:ext cx="9144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3" y="3071723"/>
            <a:ext cx="5046133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673959" y="5982900"/>
            <a:ext cx="3796079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free PowerPoint and Google Slides template 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2633133"/>
            <a:ext cx="222413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705803"/>
            <a:ext cx="261456" cy="223991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hyperlink" Target="http://www.presentationgo.com/" TargetMode="Externa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hyperlink" Target="http://www.presentationgo.com/" TargetMode="External"/><Relationship Id="rId4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6332"/>
            <a:ext cx="78867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9200"/>
            <a:ext cx="78867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0"/>
            <a:ext cx="9144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23" name="Freeform 22"/>
          <p:cNvSpPr/>
          <p:nvPr userDrawn="1"/>
        </p:nvSpPr>
        <p:spPr>
          <a:xfrm rot="5400000">
            <a:off x="91178" y="11643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654908" y="-73804"/>
            <a:ext cx="1569183" cy="612144"/>
            <a:chOff x="-2096383" y="21447"/>
            <a:chExt cx="1569183" cy="612144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-88899" y="6959601"/>
            <a:ext cx="162576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4" tooltip="PresentationGo!"/>
              </a:rPr>
              <a:t>presentationgo.com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6332"/>
            <a:ext cx="78867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9200"/>
            <a:ext cx="78867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305910"/>
            <a:ext cx="9144000" cy="5520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3200" b="0" i="0" u="none" strike="noStrike" kern="1200" cap="none" spc="15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.com</a:t>
            </a:r>
          </a:p>
        </p:txBody>
      </p:sp>
      <p:sp>
        <p:nvSpPr>
          <p:cNvPr id="23" name="Freeform 22"/>
          <p:cNvSpPr/>
          <p:nvPr userDrawn="1"/>
        </p:nvSpPr>
        <p:spPr>
          <a:xfrm rot="5400000">
            <a:off x="91178" y="11643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88899" y="6959601"/>
            <a:ext cx="162576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654908" y="-73804"/>
            <a:ext cx="1569183" cy="612144"/>
            <a:chOff x="-2096383" y="21447"/>
            <a:chExt cx="1569183" cy="612144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FAE1-45D3-4B3B-81D2-0BF25FA84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F9B6E1-5B92-0574-3722-4EFABFAF37D4}"/>
              </a:ext>
            </a:extLst>
          </p:cNvPr>
          <p:cNvGrpSpPr/>
          <p:nvPr/>
        </p:nvGrpSpPr>
        <p:grpSpPr>
          <a:xfrm>
            <a:off x="598289" y="1459395"/>
            <a:ext cx="1790367" cy="3919055"/>
            <a:chOff x="598289" y="1459395"/>
            <a:chExt cx="1790367" cy="3919055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27C6343E-5BB4-F592-5F0C-102276B78CCE}"/>
                </a:ext>
              </a:extLst>
            </p:cNvPr>
            <p:cNvSpPr/>
            <p:nvPr/>
          </p:nvSpPr>
          <p:spPr>
            <a:xfrm>
              <a:off x="630176" y="1921330"/>
              <a:ext cx="1726593" cy="3412670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B74B0AF-F54D-3D6C-7BF4-B9B7F3446213}"/>
                </a:ext>
              </a:extLst>
            </p:cNvPr>
            <p:cNvSpPr/>
            <p:nvPr/>
          </p:nvSpPr>
          <p:spPr>
            <a:xfrm>
              <a:off x="598289" y="1867637"/>
              <a:ext cx="1790367" cy="3510813"/>
            </a:xfrm>
            <a:prstGeom prst="roundRect">
              <a:avLst>
                <a:gd name="adj" fmla="val 4921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EC529F0-A80C-DDD3-EA75-D42BD4E53CB8}"/>
                </a:ext>
              </a:extLst>
            </p:cNvPr>
            <p:cNvSpPr/>
            <p:nvPr/>
          </p:nvSpPr>
          <p:spPr>
            <a:xfrm>
              <a:off x="1081992" y="1459395"/>
              <a:ext cx="822960" cy="82296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>
                  <a:solidFill>
                    <a:schemeClr val="accent2">
                      <a:lumMod val="50000"/>
                    </a:schemeClr>
                  </a:solidFill>
                </a:rPr>
                <a:t>T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53FA54E-CA3B-5498-6C44-302E08ED58EB}"/>
                </a:ext>
              </a:extLst>
            </p:cNvPr>
            <p:cNvSpPr/>
            <p:nvPr/>
          </p:nvSpPr>
          <p:spPr>
            <a:xfrm>
              <a:off x="598289" y="2463547"/>
              <a:ext cx="1790367" cy="557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cap="all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97CA87F-27B5-EA78-3CE5-6D0D9DA76AA8}"/>
                </a:ext>
              </a:extLst>
            </p:cNvPr>
            <p:cNvSpPr txBox="1"/>
            <p:nvPr/>
          </p:nvSpPr>
          <p:spPr>
            <a:xfrm>
              <a:off x="630176" y="3983496"/>
              <a:ext cx="1726593" cy="92333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>
              <a:defPPr>
                <a:defRPr lang="en-US"/>
              </a:defPPr>
              <a:lvl1pPr algn="ctr"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</a:defRPr>
              </a:lvl1pPr>
            </a:lstStyle>
            <a:p>
              <a:r>
                <a:rPr lang="en-US" sz="1350" dirty="0"/>
                <a:t>External challenges that could negatively impact an organization.</a:t>
              </a:r>
            </a:p>
          </p:txBody>
        </p:sp>
        <p:pic>
          <p:nvPicPr>
            <p:cNvPr id="67" name="Graphic 66" descr="Scorpion with solid fill">
              <a:extLst>
                <a:ext uri="{FF2B5EF4-FFF2-40B4-BE49-F238E27FC236}">
                  <a16:creationId xmlns:a16="http://schemas.microsoft.com/office/drawing/2014/main" id="{8B65747B-5F59-3615-CD70-DAF30C32221F}"/>
                </a:ext>
              </a:extLst>
            </p:cNvPr>
            <p:cNvPicPr preferRelativeResize="0">
              <a:picLocks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3432" y="3215297"/>
              <a:ext cx="640080" cy="64008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A9E5CB-4C72-0A62-760C-3F871957F84D}"/>
              </a:ext>
            </a:extLst>
          </p:cNvPr>
          <p:cNvGrpSpPr/>
          <p:nvPr/>
        </p:nvGrpSpPr>
        <p:grpSpPr>
          <a:xfrm>
            <a:off x="2650640" y="1459395"/>
            <a:ext cx="1790367" cy="3919055"/>
            <a:chOff x="2650640" y="1459395"/>
            <a:chExt cx="1790367" cy="3919055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063A92C8-E45B-EE70-74A7-6AC15AE28F33}"/>
                </a:ext>
              </a:extLst>
            </p:cNvPr>
            <p:cNvSpPr/>
            <p:nvPr/>
          </p:nvSpPr>
          <p:spPr>
            <a:xfrm>
              <a:off x="2682527" y="1921330"/>
              <a:ext cx="1726593" cy="3412670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8742E22E-6697-FC28-93B3-0E6CE37C0F9B}"/>
                </a:ext>
              </a:extLst>
            </p:cNvPr>
            <p:cNvSpPr/>
            <p:nvPr/>
          </p:nvSpPr>
          <p:spPr>
            <a:xfrm>
              <a:off x="2650640" y="1867637"/>
              <a:ext cx="1790367" cy="3510813"/>
            </a:xfrm>
            <a:prstGeom prst="roundRect">
              <a:avLst>
                <a:gd name="adj" fmla="val 492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A45F934-1CC8-D45F-D0C8-66B12ADF76BD}"/>
                </a:ext>
              </a:extLst>
            </p:cNvPr>
            <p:cNvSpPr/>
            <p:nvPr/>
          </p:nvSpPr>
          <p:spPr>
            <a:xfrm>
              <a:off x="3134343" y="1459395"/>
              <a:ext cx="822960" cy="82296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>
                  <a:solidFill>
                    <a:schemeClr val="tx2">
                      <a:lumMod val="90000"/>
                      <a:lumOff val="10000"/>
                    </a:schemeClr>
                  </a:solidFill>
                </a:rPr>
                <a:t>O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15363C8-CF92-CC76-47F9-3BC510C61C79}"/>
                </a:ext>
              </a:extLst>
            </p:cNvPr>
            <p:cNvSpPr/>
            <p:nvPr/>
          </p:nvSpPr>
          <p:spPr>
            <a:xfrm>
              <a:off x="2650640" y="2443581"/>
              <a:ext cx="1790367" cy="557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cap="all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8EA5794-84D6-91F9-1D18-BB36021152D7}"/>
                </a:ext>
              </a:extLst>
            </p:cNvPr>
            <p:cNvSpPr txBox="1"/>
            <p:nvPr/>
          </p:nvSpPr>
          <p:spPr>
            <a:xfrm>
              <a:off x="2682527" y="3775747"/>
              <a:ext cx="1726593" cy="13388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External possibilities that can lead to an organization's growth or advantage.</a:t>
              </a:r>
            </a:p>
          </p:txBody>
        </p:sp>
        <p:pic>
          <p:nvPicPr>
            <p:cNvPr id="69" name="Graphic 68" descr="Door Open with solid fill">
              <a:extLst>
                <a:ext uri="{FF2B5EF4-FFF2-40B4-BE49-F238E27FC236}">
                  <a16:creationId xmlns:a16="http://schemas.microsoft.com/office/drawing/2014/main" id="{DEB8C592-1470-F8A1-C650-AC07CA1D95D5}"/>
                </a:ext>
              </a:extLst>
            </p:cNvPr>
            <p:cNvPicPr preferRelativeResize="0">
              <a:picLocks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25783" y="3215297"/>
              <a:ext cx="640080" cy="64008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C85A87-935F-F7D3-CDDD-27446A14BEAF}"/>
              </a:ext>
            </a:extLst>
          </p:cNvPr>
          <p:cNvGrpSpPr/>
          <p:nvPr/>
        </p:nvGrpSpPr>
        <p:grpSpPr>
          <a:xfrm>
            <a:off x="4702991" y="1459395"/>
            <a:ext cx="1790367" cy="3919055"/>
            <a:chOff x="4702991" y="1459395"/>
            <a:chExt cx="1790367" cy="3919055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D9BBAC-8D21-3265-4CD1-3ED51F9958D5}"/>
                </a:ext>
              </a:extLst>
            </p:cNvPr>
            <p:cNvSpPr/>
            <p:nvPr/>
          </p:nvSpPr>
          <p:spPr>
            <a:xfrm>
              <a:off x="4734878" y="1921330"/>
              <a:ext cx="1726593" cy="3412670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60285CD7-3937-5DDF-4D24-F93739BA90FF}"/>
                </a:ext>
              </a:extLst>
            </p:cNvPr>
            <p:cNvSpPr/>
            <p:nvPr/>
          </p:nvSpPr>
          <p:spPr>
            <a:xfrm>
              <a:off x="4702991" y="1867637"/>
              <a:ext cx="1790367" cy="3510813"/>
            </a:xfrm>
            <a:prstGeom prst="roundRect">
              <a:avLst>
                <a:gd name="adj" fmla="val 4921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D807153-F6B9-FB72-4035-E1051C9E4CA6}"/>
                </a:ext>
              </a:extLst>
            </p:cNvPr>
            <p:cNvSpPr/>
            <p:nvPr/>
          </p:nvSpPr>
          <p:spPr>
            <a:xfrm>
              <a:off x="5186694" y="1459395"/>
              <a:ext cx="822960" cy="82296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>
                  <a:solidFill>
                    <a:schemeClr val="accent5"/>
                  </a:solidFill>
                </a:rPr>
                <a:t>W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ECC6047-1C3C-51CF-98AA-9ECCF713EE1C}"/>
                </a:ext>
              </a:extLst>
            </p:cNvPr>
            <p:cNvSpPr/>
            <p:nvPr/>
          </p:nvSpPr>
          <p:spPr>
            <a:xfrm>
              <a:off x="4702991" y="2443581"/>
              <a:ext cx="1790367" cy="557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cap="all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1AEA5B8-AAE7-AAFC-E75F-92A7A9F995E6}"/>
                </a:ext>
              </a:extLst>
            </p:cNvPr>
            <p:cNvSpPr txBox="1"/>
            <p:nvPr/>
          </p:nvSpPr>
          <p:spPr>
            <a:xfrm>
              <a:off x="4734878" y="3879622"/>
              <a:ext cx="1726593" cy="113107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bg1"/>
                  </a:solidFill>
                </a:rPr>
                <a:t>Internal limitations that hinder an organization's performance or potential.</a:t>
              </a:r>
            </a:p>
          </p:txBody>
        </p:sp>
        <p:pic>
          <p:nvPicPr>
            <p:cNvPr id="71" name="Graphic 70" descr="Empty battery with solid fill">
              <a:extLst>
                <a:ext uri="{FF2B5EF4-FFF2-40B4-BE49-F238E27FC236}">
                  <a16:creationId xmlns:a16="http://schemas.microsoft.com/office/drawing/2014/main" id="{1A8414BF-3BCD-74D2-C1A0-7CE979B70992}"/>
                </a:ext>
              </a:extLst>
            </p:cNvPr>
            <p:cNvPicPr preferRelativeResize="0">
              <a:picLocks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8134" y="3215297"/>
              <a:ext cx="640080" cy="64008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D68052-826C-5006-0D85-6221A0DD210A}"/>
              </a:ext>
            </a:extLst>
          </p:cNvPr>
          <p:cNvGrpSpPr/>
          <p:nvPr/>
        </p:nvGrpSpPr>
        <p:grpSpPr>
          <a:xfrm>
            <a:off x="6755344" y="1459395"/>
            <a:ext cx="1790367" cy="3919055"/>
            <a:chOff x="6755344" y="1459395"/>
            <a:chExt cx="1790367" cy="3919055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C2F73B4B-938C-2851-B7EA-078CDBB13EFC}"/>
                </a:ext>
              </a:extLst>
            </p:cNvPr>
            <p:cNvSpPr/>
            <p:nvPr/>
          </p:nvSpPr>
          <p:spPr>
            <a:xfrm>
              <a:off x="6787231" y="1921330"/>
              <a:ext cx="1726593" cy="3412670"/>
            </a:xfrm>
            <a:prstGeom prst="roundRect">
              <a:avLst>
                <a:gd name="adj" fmla="val 4921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30E281BA-AA77-6BD4-5DFD-315552E5D389}"/>
                </a:ext>
              </a:extLst>
            </p:cNvPr>
            <p:cNvSpPr/>
            <p:nvPr/>
          </p:nvSpPr>
          <p:spPr>
            <a:xfrm>
              <a:off x="6755344" y="1867637"/>
              <a:ext cx="1790367" cy="3510813"/>
            </a:xfrm>
            <a:prstGeom prst="roundRect">
              <a:avLst>
                <a:gd name="adj" fmla="val 4921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30E90F6-650C-DBE3-5835-C9D57BCE42E1}"/>
                </a:ext>
              </a:extLst>
            </p:cNvPr>
            <p:cNvSpPr/>
            <p:nvPr/>
          </p:nvSpPr>
          <p:spPr>
            <a:xfrm>
              <a:off x="7239047" y="1459395"/>
              <a:ext cx="822960" cy="82296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</a:gradFill>
            <a:effectLst>
              <a:outerShdw blurRad="10160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>
                  <a:solidFill>
                    <a:schemeClr val="accent6">
                      <a:lumMod val="50000"/>
                    </a:schemeClr>
                  </a:solidFill>
                </a:rPr>
                <a:t>S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E5BF31B-B630-6E35-6056-16A8FFA4526D}"/>
                </a:ext>
              </a:extLst>
            </p:cNvPr>
            <p:cNvSpPr/>
            <p:nvPr/>
          </p:nvSpPr>
          <p:spPr>
            <a:xfrm>
              <a:off x="6755344" y="2443581"/>
              <a:ext cx="1790367" cy="557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cap="all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0DF5CCB-5DAB-E37E-F74C-363977AC2ADD}"/>
                </a:ext>
              </a:extLst>
            </p:cNvPr>
            <p:cNvSpPr txBox="1"/>
            <p:nvPr/>
          </p:nvSpPr>
          <p:spPr>
            <a:xfrm>
              <a:off x="6787231" y="3879622"/>
              <a:ext cx="1726593" cy="113107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bg1"/>
                  </a:solidFill>
                </a:rPr>
                <a:t>Internal attributes that enhance an organization's ability to achieve its objectives.</a:t>
              </a:r>
            </a:p>
          </p:txBody>
        </p:sp>
        <p:pic>
          <p:nvPicPr>
            <p:cNvPr id="75" name="Graphic 74" descr="Body builder with solid fill">
              <a:extLst>
                <a:ext uri="{FF2B5EF4-FFF2-40B4-BE49-F238E27FC236}">
                  <a16:creationId xmlns:a16="http://schemas.microsoft.com/office/drawing/2014/main" id="{6D68A4E7-3A5E-C6FB-7B92-43C73B5942B3}"/>
                </a:ext>
              </a:extLst>
            </p:cNvPr>
            <p:cNvPicPr preferRelativeResize="0">
              <a:picLocks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30487" y="3215297"/>
              <a:ext cx="640080" cy="64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0981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10276</TotalTime>
  <Words>81</Words>
  <Application>Microsoft Office PowerPoint</Application>
  <PresentationFormat>On-screen Show (4:3)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Open Sans</vt:lpstr>
      <vt:lpstr>Template PresentationGO</vt:lpstr>
      <vt:lpstr>Template PresentationGO Dark</vt:lpstr>
      <vt:lpstr>Custom Design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TOWS Analysis</dc:title>
  <dc:creator>PresentationGO.com</dc:creator>
  <dc:description>© Copyright PresentationGO.com - Do not distribute or sale without written permission.</dc:description>
  <cp:lastModifiedBy>Sai Lokesh Nalla</cp:lastModifiedBy>
  <cp:revision>18</cp:revision>
  <dcterms:created xsi:type="dcterms:W3CDTF">2014-11-26T05:14:11Z</dcterms:created>
  <dcterms:modified xsi:type="dcterms:W3CDTF">2026-05-18T11:23:14Z</dcterms:modified>
  <cp:category>Charts &amp; Diagrams</cp:category>
</cp:coreProperties>
</file>